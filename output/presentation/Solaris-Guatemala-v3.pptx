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4de66229a3c4ada" /><Relationship Type="http://schemas.openxmlformats.org/officeDocument/2006/relationships/extended-properties" Target="/docProps/app.xml" Id="R8605a1e6adc24098" /><Relationship Type="http://schemas.openxmlformats.org/officeDocument/2006/relationships/officeDocument" Target="/ppt/presentation.xml" Id="R09668721b3d041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ef7570ec14e4601"/>
  </p:sldMasterIdLst>
  <p:notesMasterIdLst>
    <p:notesMasterId xmlns:r="http://schemas.openxmlformats.org/officeDocument/2006/relationships" r:id="R55a8b2601ad14f84"/>
  </p:notesMasterIdLst>
  <p:sldIdLst>
    <p:sldId xmlns:r="http://schemas.openxmlformats.org/officeDocument/2006/relationships" id="256" r:id="R6c0224fc362b4809"/>
    <p:sldId xmlns:r="http://schemas.openxmlformats.org/officeDocument/2006/relationships" id="257" r:id="R5e5ee916d33b41af"/>
    <p:sldId xmlns:r="http://schemas.openxmlformats.org/officeDocument/2006/relationships" id="258" r:id="R869991f77ac74395"/>
    <p:sldId xmlns:r="http://schemas.openxmlformats.org/officeDocument/2006/relationships" id="259" r:id="R6eadd7f9267e4882"/>
    <p:sldId xmlns:r="http://schemas.openxmlformats.org/officeDocument/2006/relationships" id="260" r:id="R9bcc27ad72f448b9"/>
    <p:sldId xmlns:r="http://schemas.openxmlformats.org/officeDocument/2006/relationships" id="261" r:id="Rc412d804cb4b4c6e"/>
    <p:sldId xmlns:r="http://schemas.openxmlformats.org/officeDocument/2006/relationships" id="262" r:id="R33e423323e274551"/>
    <p:sldId xmlns:r="http://schemas.openxmlformats.org/officeDocument/2006/relationships" id="263" r:id="R01637fdf3c894449"/>
    <p:sldId xmlns:r="http://schemas.openxmlformats.org/officeDocument/2006/relationships" id="264" r:id="R982d60a133ee4e4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d8603b1120c4585" /><Relationship Type="http://schemas.openxmlformats.org/officeDocument/2006/relationships/slideMaster" Target="/ppt/slideMasters/slideMaster1.xml" Id="R5ef7570ec14e4601" /><Relationship Type="http://schemas.openxmlformats.org/officeDocument/2006/relationships/notesMaster" Target="/ppt/notesMasters/notesMaster1.xml" Id="R55a8b2601ad14f84" /><Relationship Type="http://schemas.openxmlformats.org/officeDocument/2006/relationships/presProps" Target="/ppt/presProps.xml" Id="R35ccd62fe6144862" /><Relationship Type="http://schemas.openxmlformats.org/officeDocument/2006/relationships/tableStyles" Target="/ppt/tableStyles.xml" Id="R53ef1d4b446c4df4" /><Relationship Type="http://schemas.openxmlformats.org/officeDocument/2006/relationships/slide" Target="/ppt/slides/slide1.xml" Id="R6c0224fc362b4809" /><Relationship Type="http://schemas.openxmlformats.org/officeDocument/2006/relationships/slide" Target="/ppt/slides/slide2.xml" Id="R5e5ee916d33b41af" /><Relationship Type="http://schemas.openxmlformats.org/officeDocument/2006/relationships/slide" Target="/ppt/slides/slide3.xml" Id="R869991f77ac74395" /><Relationship Type="http://schemas.openxmlformats.org/officeDocument/2006/relationships/slide" Target="/ppt/slides/slide4.xml" Id="R6eadd7f9267e4882" /><Relationship Type="http://schemas.openxmlformats.org/officeDocument/2006/relationships/slide" Target="/ppt/slides/slide5.xml" Id="R9bcc27ad72f448b9" /><Relationship Type="http://schemas.openxmlformats.org/officeDocument/2006/relationships/slide" Target="/ppt/slides/slide6.xml" Id="Rc412d804cb4b4c6e" /><Relationship Type="http://schemas.openxmlformats.org/officeDocument/2006/relationships/slide" Target="/ppt/slides/slide7.xml" Id="R33e423323e274551" /><Relationship Type="http://schemas.openxmlformats.org/officeDocument/2006/relationships/slide" Target="/ppt/slides/slide8.xml" Id="R01637fdf3c894449" /><Relationship Type="http://schemas.openxmlformats.org/officeDocument/2006/relationships/slide" Target="/ppt/slides/slide9.xml" Id="R982d60a133ee4e4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0e899df37ed4b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5e5369d7ac4b2c" /><Relationship Type="http://schemas.openxmlformats.org/officeDocument/2006/relationships/notesMaster" Target="/ppt/notesMasters/notesMaster1.xml" Id="Rc11c612e23ad4f5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2f909bc33364824" /><Relationship Type="http://schemas.openxmlformats.org/officeDocument/2006/relationships/notesMaster" Target="/ppt/notesMasters/notesMaster1.xml" Id="R31ea779ff6154b9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573feaa00748e6" /><Relationship Type="http://schemas.openxmlformats.org/officeDocument/2006/relationships/notesMaster" Target="/ppt/notesMasters/notesMaster1.xml" Id="Raeb06c3909e9468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f13f310920b43e3" /><Relationship Type="http://schemas.openxmlformats.org/officeDocument/2006/relationships/notesMaster" Target="/ppt/notesMasters/notesMaster1.xml" Id="R557d456470b44f5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88ef17b0ff746ff" /><Relationship Type="http://schemas.openxmlformats.org/officeDocument/2006/relationships/notesMaster" Target="/ppt/notesMasters/notesMaster1.xml" Id="Rfd3ccc4093d74ac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fa1788b399e4eeb" /><Relationship Type="http://schemas.openxmlformats.org/officeDocument/2006/relationships/notesMaster" Target="/ppt/notesMasters/notesMaster1.xml" Id="R6dc5a3963ad343d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635daad167b4393" /><Relationship Type="http://schemas.openxmlformats.org/officeDocument/2006/relationships/notesMaster" Target="/ppt/notesMasters/notesMaster1.xml" Id="R4c538ce4ea864ba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9247d6ae1974420" /><Relationship Type="http://schemas.openxmlformats.org/officeDocument/2006/relationships/notesMaster" Target="/ppt/notesMasters/notesMaster1.xml" Id="Rb78ebe56424b479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4072af943cc4f08" /><Relationship Type="http://schemas.openxmlformats.org/officeDocument/2006/relationships/notesMaster" Target="/ppt/notesMasters/notesMaster1.xml" Id="Rfc2ee0117d7c49f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docs/REQUIREMENTS.md y docs/TEAM.md. Datos demo identificados como sintéticos.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docs/REQUIREMENTS.md, RF-01 a RF-17. La redacción resume el problema planteado en los documentos de la competencia.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GET /api/v1/statistics sobre la base demo local. Totales verificados: 32 granjas, 384 registros, 189 proyecciones y 46 alertas. Los valores son sintéticos.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app/Services/EnergyService.php y docs/REQUIREMENTS.md. Ejemplo tomado de la respuesta de GET /api/v1/generations?from=2026-08&amp;to=2026-08.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resources/js/app.js (inicialización Leaflet), resources/views/map.blade.php y catálogo de 22 departamentos en DepartmentSeeder.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app/Services/ProjectionService.php, app/Models/Projection.php y docs/REQUIREMENTS.md. El gráfico muestra el histórico hasta agosto; las proyecciones futuras se guardan y se consultan en la ruta /projections.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docs/ARCHITECTURE.md, docs/DATABASE.md y rutas/controllers/services de solaris/. El diagrama es editable y resume el flujo real.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routes/api.php, docs/API.md y salida verificada de php artisan test: 23 passed (231 assertions). Vite build también terminó correctamente.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docs/DEMO.md, docs/TEAM.md y README.md. La URL pública queda pendiente de proveedor, dominio y credenciales, que el equipo debe configurar antes de la entrega.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177bdb30e34b2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a59c1254cc64dc6" /><Relationship Type="http://schemas.openxmlformats.org/officeDocument/2006/relationships/slideLayout" Target="/ppt/slideLayouts/slideLayout1.xml" Id="Rd2030ae164c24fe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030ae164c24fe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43c65ae89d4e38" /><Relationship Type="http://schemas.openxmlformats.org/officeDocument/2006/relationships/notesSlide" Target="/ppt/notesSlides/notesSlide1.xml" Id="R756944a8d40f4ff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e506030af943ad" /><Relationship Type="http://schemas.openxmlformats.org/officeDocument/2006/relationships/notesSlide" Target="/ppt/notesSlides/notesSlide2.xml" Id="R026838b19475477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b42f3af1b64b9e" /><Relationship Type="http://schemas.openxmlformats.org/officeDocument/2006/relationships/chart" Target="/ppt/slides/charts/chart1.xml" Id="R546135c7491c4136" /><Relationship Type="http://schemas.openxmlformats.org/officeDocument/2006/relationships/notesSlide" Target="/ppt/notesSlides/notesSlide3.xml" Id="R30733ab87856458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d0e1c9c90d4b42" /><Relationship Type="http://schemas.openxmlformats.org/officeDocument/2006/relationships/notesSlide" Target="/ppt/notesSlides/notesSlide4.xml" Id="Rcccbfd9436764f1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93bf427bb3492a" /><Relationship Type="http://schemas.openxmlformats.org/officeDocument/2006/relationships/notesSlide" Target="/ppt/notesSlides/notesSlide5.xml" Id="R68af537a860e4b0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077f5dfdf44fd9" /><Relationship Type="http://schemas.openxmlformats.org/officeDocument/2006/relationships/chart" Target="/ppt/slides/charts/chart2.xml" Id="R0ea9f032e95e4969" /><Relationship Type="http://schemas.openxmlformats.org/officeDocument/2006/relationships/notesSlide" Target="/ppt/notesSlides/notesSlide6.xml" Id="R1883fd0c595b49e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7825bf82494029" /><Relationship Type="http://schemas.openxmlformats.org/officeDocument/2006/relationships/notesSlide" Target="/ppt/notesSlides/notesSlide7.xml" Id="Rba562d9437de46e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428deccc9f4ec7" /><Relationship Type="http://schemas.openxmlformats.org/officeDocument/2006/relationships/notesSlide" Target="/ppt/notesSlides/notesSlide8.xml" Id="Rd8f756d12a5a4bd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f38bd9d2a944b9" /><Relationship Type="http://schemas.openxmlformats.org/officeDocument/2006/relationships/notesSlide" Target="/ppt/notesSlides/notesSlide9.xml" Id="Rc701e1932c934ff7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F6F9FC"/>
                </a:solidFill>
                <a:latin typeface="Arial"/>
                <a:ea typeface="Arial"/>
                <a:cs typeface="Arial"/>
              </a:rPr>
              <a:t>Generación mensual agregada (kWh)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F6F9FC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ser>
          <c:idx val="0"/>
          <c:order val="0"/>
          <c:tx>
            <c:v>Real</c:v>
          </c:tx>
          <c:spPr>
            <a:ln xmlns:a="http://schemas.openxmlformats.org/drawingml/2006/main" w="28575">
              <a:solidFill>
                <a:srgbClr val="54C8E8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54C8E8"/>
              </a:solidFill>
            </c:spPr>
          </c:marker>
          <c:cat>
            <c:strRef>
              <c:f>'Chart Data'!$A$2:$A$13</c:f>
              <c:strCache>
                <c:ptCount val="12"/>
                <c:pt idx="0">
                  <c:v>sep 25</c:v>
                </c:pt>
                <c:pt idx="1">
                  <c:v>oct</c:v>
                </c:pt>
                <c:pt idx="2">
                  <c:v>nov</c:v>
                </c:pt>
                <c:pt idx="3">
                  <c:v>dic</c:v>
                </c:pt>
                <c:pt idx="4">
                  <c:v>ene 26</c:v>
                </c:pt>
                <c:pt idx="5">
                  <c:v>feb</c:v>
                </c:pt>
                <c:pt idx="6">
                  <c:v>mar</c:v>
                </c:pt>
                <c:pt idx="7">
                  <c:v>abr</c:v>
                </c:pt>
                <c:pt idx="8">
                  <c:v>may</c:v>
                </c:pt>
                <c:pt idx="9">
                  <c:v>jun</c:v>
                </c:pt>
                <c:pt idx="10">
                  <c:v>jul</c:v>
                </c:pt>
                <c:pt idx="11">
                  <c:v>ago</c:v>
                </c:pt>
              </c:strCache>
            </c:strRef>
          </c:cat>
          <c:val>
            <c:numRef>
              <c:f>'Chart Data'!$B$2:$B$13</c:f>
              <c:numCache>
                <c:formatCode>0.0,," M"</c:formatCode>
                <c:ptCount val="12"/>
                <c:pt idx="0">
                  <c:v>1904434</c:v>
                </c:pt>
                <c:pt idx="1">
                  <c:v>2105881</c:v>
                </c:pt>
                <c:pt idx="2">
                  <c:v>2239187</c:v>
                </c:pt>
                <c:pt idx="3">
                  <c:v>2445335</c:v>
                </c:pt>
                <c:pt idx="4">
                  <c:v>2498616</c:v>
                </c:pt>
                <c:pt idx="5">
                  <c:v>2325400</c:v>
                </c:pt>
                <c:pt idx="6">
                  <c:v>2648673</c:v>
                </c:pt>
                <c:pt idx="7">
                  <c:v>2440216</c:v>
                </c:pt>
                <c:pt idx="8">
                  <c:v>2190793</c:v>
                </c:pt>
                <c:pt idx="9">
                  <c:v>1947929</c:v>
                </c:pt>
                <c:pt idx="10">
                  <c:v>2160090</c:v>
                </c:pt>
                <c:pt idx="11">
                  <c:v>1956409</c:v>
                </c:pt>
              </c:numCache>
            </c:numRef>
          </c:val>
        </c:ser>
        <c:ser>
          <c:idx val="1"/>
          <c:order val="1"/>
          <c:tx>
            <c:v>Esperada</c:v>
          </c:tx>
          <c:spPr>
            <a:ln xmlns:a="http://schemas.openxmlformats.org/drawingml/2006/main" w="19050">
              <a:solidFill>
                <a:srgbClr val="F6B73C"/>
              </a:solidFill>
              <a:prstDash val="solid"/>
            </a:ln>
          </c:spPr>
          <c:marker>
            <c:symbol val="none"/>
            <c:size val="4"/>
          </c:marker>
          <c:cat>
            <c:strRef>
              <c:f>'Chart Data'!$C$2:$C$13</c:f>
              <c:strCache>
                <c:ptCount val="12"/>
                <c:pt idx="0">
                  <c:v>sep 25</c:v>
                </c:pt>
                <c:pt idx="1">
                  <c:v>oct</c:v>
                </c:pt>
                <c:pt idx="2">
                  <c:v>nov</c:v>
                </c:pt>
                <c:pt idx="3">
                  <c:v>dic</c:v>
                </c:pt>
                <c:pt idx="4">
                  <c:v>ene 26</c:v>
                </c:pt>
                <c:pt idx="5">
                  <c:v>feb</c:v>
                </c:pt>
                <c:pt idx="6">
                  <c:v>mar</c:v>
                </c:pt>
                <c:pt idx="7">
                  <c:v>abr</c:v>
                </c:pt>
                <c:pt idx="8">
                  <c:v>may</c:v>
                </c:pt>
                <c:pt idx="9">
                  <c:v>jun</c:v>
                </c:pt>
                <c:pt idx="10">
                  <c:v>jul</c:v>
                </c:pt>
                <c:pt idx="11">
                  <c:v>ago</c:v>
                </c:pt>
              </c:strCache>
            </c:strRef>
          </c:cat>
          <c:val>
            <c:numRef>
              <c:f>'Chart Data'!$D$2:$D$13</c:f>
              <c:numCache>
                <c:formatCode>0.0,," M"</c:formatCode>
                <c:ptCount val="12"/>
                <c:pt idx="0">
                  <c:v>1976772</c:v>
                </c:pt>
                <c:pt idx="1">
                  <c:v>2162821</c:v>
                </c:pt>
                <c:pt idx="2">
                  <c:v>2325614</c:v>
                </c:pt>
                <c:pt idx="3">
                  <c:v>2547323</c:v>
                </c:pt>
                <c:pt idx="4">
                  <c:v>2595386</c:v>
                </c:pt>
                <c:pt idx="5">
                  <c:v>2431042</c:v>
                </c:pt>
                <c:pt idx="6">
                  <c:v>2787636</c:v>
                </c:pt>
                <c:pt idx="7">
                  <c:v>2558176</c:v>
                </c:pt>
                <c:pt idx="8">
                  <c:v>2258947</c:v>
                </c:pt>
                <c:pt idx="9">
                  <c:v>2023285</c:v>
                </c:pt>
                <c:pt idx="10">
                  <c:v>2234915</c:v>
                </c:pt>
                <c:pt idx="11">
                  <c:v>2138790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9456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9BDD4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94563"/>
              </a:solidFill>
              <a:prstDash val="solid"/>
            </a:ln>
          </c:spPr>
        </c:majorGridlines>
        <c:numFmt formatCode="0.0,,&quot; M&quot;"/>
        <c:majorTickMark val="none"/>
        <c:minorTickMark val="none"/>
        <c:spPr>
          <a:ln xmlns:a="http://schemas.openxmlformats.org/drawingml/2006/main" w="9525">
            <a:solidFill>
              <a:srgbClr val="29456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9BDD4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12243D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A9BDD4"/>
              </a:solidFill>
              <a:latin typeface="Arial"/>
              <a:ea typeface="Arial"/>
              <a:cs typeface="Arial"/>
            </a:defRPr>
          </a:pPr>
        </a:p>
      </c:txPr>
    </c:legend>
    <c:plotVisOnly val="1"/>
    <c:dispBlanksAs val="gap"/>
  </c:chart>
  <c:spPr>
    <a:solidFill xmlns:a="http://schemas.openxmlformats.org/drawingml/2006/main">
      <a:srgbClr val="12243D"/>
    </a:solidFill>
    <a:ln xmlns:a="http://schemas.openxmlformats.org/drawingml/2006/main" w="9525">
      <a:solidFill>
        <a:srgbClr val="294563"/>
      </a:solidFill>
      <a:prstDash val="solid"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F6F9FC"/>
                </a:solidFill>
                <a:latin typeface="Arial"/>
                <a:ea typeface="Arial"/>
                <a:cs typeface="Arial"/>
              </a:rPr>
              <a:t>Histórico real y referencia esperada (kWh)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F6F9FC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ser>
          <c:idx val="0"/>
          <c:order val="0"/>
          <c:tx>
            <c:v>Real</c:v>
          </c:tx>
          <c:spPr>
            <a:ln xmlns:a="http://schemas.openxmlformats.org/drawingml/2006/main" w="28575">
              <a:solidFill>
                <a:srgbClr val="54C8E8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54C8E8"/>
              </a:solidFill>
            </c:spPr>
          </c:marker>
          <c:cat>
            <c:strRef>
              <c:f>'Chart Data'!$A$2:$A$6</c:f>
              <c:strCache>
                <c:ptCount val="5"/>
                <c:pt idx="0">
                  <c:v>abr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ago</c:v>
                </c:pt>
              </c:strCache>
            </c:strRef>
          </c:cat>
          <c:val>
            <c:numRef>
              <c:f>'Chart Data'!$B$2:$B$6</c:f>
              <c:numCache>
                <c:formatCode>0.0,," M"</c:formatCode>
                <c:ptCount val="5"/>
                <c:pt idx="0">
                  <c:v>2440216</c:v>
                </c:pt>
                <c:pt idx="1">
                  <c:v>2190793</c:v>
                </c:pt>
                <c:pt idx="2">
                  <c:v>1947929</c:v>
                </c:pt>
                <c:pt idx="3">
                  <c:v>2160090</c:v>
                </c:pt>
                <c:pt idx="4">
                  <c:v>1956409</c:v>
                </c:pt>
              </c:numCache>
            </c:numRef>
          </c:val>
        </c:ser>
        <c:ser>
          <c:idx val="1"/>
          <c:order val="1"/>
          <c:tx>
            <c:v>Esperada</c:v>
          </c:tx>
          <c:spPr>
            <a:ln xmlns:a="http://schemas.openxmlformats.org/drawingml/2006/main" w="19050">
              <a:solidFill>
                <a:srgbClr val="F6B73C"/>
              </a:solidFill>
              <a:prstDash val="solid"/>
            </a:ln>
          </c:spPr>
          <c:marker>
            <c:symbol val="diamond"/>
            <c:size val="5"/>
            <c:spPr>
              <a:solidFill xmlns:a="http://schemas.openxmlformats.org/drawingml/2006/main">
                <a:srgbClr val="F6B73C"/>
              </a:solidFill>
            </c:spPr>
          </c:marker>
          <c:cat>
            <c:strRef>
              <c:f>'Chart Data'!$C$2:$C$6</c:f>
              <c:strCache>
                <c:ptCount val="5"/>
                <c:pt idx="0">
                  <c:v>abr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ago</c:v>
                </c:pt>
              </c:strCache>
            </c:strRef>
          </c:cat>
          <c:val>
            <c:numRef>
              <c:f>'Chart Data'!$D$2:$D$6</c:f>
              <c:numCache>
                <c:formatCode>0.0,," M"</c:formatCode>
                <c:ptCount val="5"/>
                <c:pt idx="0">
                  <c:v>2558176</c:v>
                </c:pt>
                <c:pt idx="1">
                  <c:v>2258947</c:v>
                </c:pt>
                <c:pt idx="2">
                  <c:v>2023285</c:v>
                </c:pt>
                <c:pt idx="3">
                  <c:v>2234915</c:v>
                </c:pt>
                <c:pt idx="4">
                  <c:v>2138790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9456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9BDD4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94563"/>
              </a:solidFill>
              <a:prstDash val="solid"/>
            </a:ln>
          </c:spPr>
        </c:majorGridlines>
        <c:numFmt formatCode="0.0,,&quot; M&quot;"/>
        <c:majorTickMark val="none"/>
        <c:minorTickMark val="none"/>
        <c:spPr>
          <a:ln xmlns:a="http://schemas.openxmlformats.org/drawingml/2006/main" w="9525">
            <a:solidFill>
              <a:srgbClr val="29456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9BDD4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12243D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A9BDD4"/>
              </a:solidFill>
              <a:latin typeface="Arial"/>
              <a:ea typeface="Arial"/>
              <a:cs typeface="Arial"/>
            </a:defRPr>
          </a:pPr>
        </a:p>
      </c:txPr>
    </c:legend>
    <c:plotVisOnly val="1"/>
    <c:dispBlanksAs val="gap"/>
  </c:chart>
  <c:spPr>
    <a:solidFill xmlns:a="http://schemas.openxmlformats.org/drawingml/2006/main">
      <a:srgbClr val="12243D"/>
    </a:solidFill>
    <a:ln xmlns:a="http://schemas.openxmlformats.org/drawingml/2006/main" w="9525">
      <a:solidFill>
        <a:srgbClr val="294563"/>
      </a:solidFill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111F"/>
            </a:gs>
            <a:gs pos="100000">
              <a:srgbClr val="0E1B30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614F09-AC97-46EC-AB75-0747BE908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73C"/>
          </a:solidFill>
          <a:ln xmlns:a="http://schemas.openxmlformats.org/drawingml/2006/main" w="0">
            <a:solidFill>
              <a:srgbClr val="F6B7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F95947-8858-4C59-AE12-E37C66C5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666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6F9FC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6F9FC"/>
                </a:solidFill>
                <a:latin typeface="Arial"/>
                <a:ea typeface="Arial"/>
                <a:cs typeface="Arial"/>
              </a:rPr>
              <a:t>SOLARIS</a:t>
            </a:r>
          </a:p>
          <a:p xmlns:a="http://schemas.openxmlformats.org/drawingml/2006/main">
            <a:pPr>
              <a:defRPr sz="4650" b="1">
                <a:solidFill>
                  <a:srgbClr val="F6F9FC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6F9FC"/>
                </a:solidFill>
                <a:latin typeface="Arial"/>
                <a:ea typeface="Arial"/>
                <a:cs typeface="Arial"/>
              </a:rPr>
              <a:t>GUATEMALA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55D1F7-B949-4E43-BC07-42DD7E169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6B73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9517AF-85EB-4FB3-B871-306B66098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666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A9BDD4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A9BDD4"/>
                </a:solidFill>
                <a:latin typeface="Arial"/>
                <a:ea typeface="Arial"/>
                <a:cs typeface="Arial"/>
              </a:rPr>
              <a:t>Monitoreo de generación solar con datos accionables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BA40F7-6522-4510-B3B5-0276A1462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102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DE7A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DE7A6"/>
                </a:solidFill>
                <a:latin typeface="Arial"/>
                <a:ea typeface="Arial"/>
                <a:cs typeface="Arial"/>
              </a:rPr>
              <a:t>Competencia Día del Programador ·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185362-6F94-4789-8A44-EC71555C7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6262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9BDD4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A9BDD4"/>
                </a:solidFill>
                <a:latin typeface="Arial"/>
                <a:ea typeface="Arial"/>
                <a:cs typeface="Arial"/>
              </a:rPr>
              <a:t>Karl Tommy Escobar Castellanos</a:t>
            </a:r>
          </a:p>
          <a:p xmlns:a="http://schemas.openxmlformats.org/drawingml/2006/main">
            <a:pPr>
              <a:defRPr sz="1050">
                <a:solidFill>
                  <a:srgbClr val="A9BDD4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A9BDD4"/>
                </a:solidFill>
                <a:latin typeface="Arial"/>
                <a:ea typeface="Arial"/>
                <a:cs typeface="Arial"/>
              </a:rPr>
              <a:t>Jerelyn Andrea Marín Morales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E74C74-3222-4255-961F-729F4D6FA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238250"/>
            <a:ext cx="2857500" cy="2857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6B73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FCAA88-923F-4FFA-ABE4-9B95B60F8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80975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B73C"/>
          </a:solidFill>
          <a:ln xmlns:a="http://schemas.openxmlformats.org/drawingml/2006/main" w="0">
            <a:solidFill>
              <a:srgbClr val="F6B73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ECA48D-3E9C-4BA8-8819-7955094F3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955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9BFD14-D3E2-46A3-B107-551ED1C37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095750"/>
            <a:ext cx="114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6F9F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6F9FC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1FA1EA-4122-4F82-BB9A-2696B8CDD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591050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A9BDD4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A9BDD4"/>
                </a:solidFill>
                <a:latin typeface="Arial"/>
                <a:ea typeface="Arial"/>
                <a:cs typeface="Arial"/>
              </a:rPr>
              <a:t>departamentos cubiertos</a:t>
            </a:r>
          </a:p>
        </p:txBody>
      </p:sp>
    </p:spTree>
    <p:extLst>
      <p:ext uri="{BB962C8B-B14F-4D97-AF65-F5344CB8AC3E}">
        <p14:creationId xmlns:p14="http://schemas.microsoft.com/office/powerpoint/2010/main" val="16097156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12D322-CD92-4C5B-BE85-ED5FBFD46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6B73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6B73C"/>
                </a:solidFill>
                <a:latin typeface="Arial"/>
                <a:ea typeface="Arial"/>
                <a:cs typeface="Arial"/>
              </a:rPr>
              <a:t>EL RETO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C668D6-2572-4229-B19B-BF0CD2B49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6F9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6F9FC"/>
                </a:solidFill>
                <a:latin typeface="Arial"/>
                <a:ea typeface="Arial"/>
                <a:cs typeface="Arial"/>
              </a:rPr>
              <a:t>La energía disponible exige seguimiento mensual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34F421-520A-4ACE-9652-20E28E906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52550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56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EEF361-EAEC-4224-BD9E-A7B372329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000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9BDD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DD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E8485D-37CB-41A6-B1A3-DE59CA586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4667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6F9F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6F9FC"/>
                </a:solidFill>
                <a:latin typeface="Arial"/>
                <a:ea typeface="Arial"/>
                <a:cs typeface="Arial"/>
              </a:rPr>
              <a:t>Cuando la generación real se separa de lo esperado, el equipo necesita ubicar la granja, cuantificar el impacto y decidir qué revisar.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1D8419-929A-42C0-8D8E-A61ACA480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428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DD4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A9BDD4"/>
                </a:solidFill>
                <a:latin typeface="Arial"/>
                <a:ea typeface="Arial"/>
                <a:cs typeface="Arial"/>
              </a:rPr>
              <a:t>Solaris concentra inventario, registros y lectura operativa en una sola vista pública y auditable.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AA73B0-8F1F-460F-9A93-77DAD349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52600"/>
            <a:ext cx="45720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2243D"/>
          </a:solidFill>
          <a:ln xmlns:a="http://schemas.openxmlformats.org/drawingml/2006/main" w="9525">
            <a:solidFill>
              <a:srgbClr val="294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DD66EE-A1ED-4F68-962A-4120AF1CC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5260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C8E8"/>
          </a:solidFill>
          <a:ln xmlns:a="http://schemas.openxmlformats.org/drawingml/2006/main" w="0">
            <a:solidFill>
              <a:srgbClr val="54C8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15A777-93BF-4EE9-BE47-4C67E6ED1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9240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4C8E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4C8E8"/>
                </a:solidFill>
                <a:latin typeface="Arial"/>
                <a:ea typeface="Arial"/>
                <a:cs typeface="Arial"/>
              </a:rPr>
              <a:t>Registrar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21BB4C-4A6F-4A1A-98CA-E0370E516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57425"/>
            <a:ext cx="3733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9BDD4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A9BDD4"/>
                </a:solidFill>
                <a:latin typeface="Arial"/>
                <a:ea typeface="Arial"/>
                <a:cs typeface="Arial"/>
              </a:rPr>
              <a:t>Granja, paneles, período y kWh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8D4C02-59A5-4999-836A-C900ECAAC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86100"/>
            <a:ext cx="45720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2243D"/>
          </a:solidFill>
          <a:ln xmlns:a="http://schemas.openxmlformats.org/drawingml/2006/main" w="9525">
            <a:solidFill>
              <a:srgbClr val="294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AE15F4-164A-4062-A5DF-758E51785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8610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7878"/>
          </a:solidFill>
          <a:ln xmlns:a="http://schemas.openxmlformats.org/drawingml/2006/main" w="0">
            <a:solidFill>
              <a:srgbClr val="F0787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3A7DF8-6869-4DCA-B1E0-7078C9B4A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2575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0787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07878"/>
                </a:solidFill>
                <a:latin typeface="Arial"/>
                <a:ea typeface="Arial"/>
                <a:cs typeface="Arial"/>
              </a:rPr>
              <a:t>Detectar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6F7CC4-224A-48BC-A11D-7C5C055C2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590925"/>
            <a:ext cx="3733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9BDD4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A9BDD4"/>
                </a:solidFill>
                <a:latin typeface="Arial"/>
                <a:ea typeface="Arial"/>
                <a:cs typeface="Arial"/>
              </a:rPr>
              <a:t>Alerta inclusiva al 80% del esperado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2C1218-15ED-484C-AD38-5DFA65321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19600"/>
            <a:ext cx="45720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2243D"/>
          </a:solidFill>
          <a:ln xmlns:a="http://schemas.openxmlformats.org/drawingml/2006/main" w="9525">
            <a:solidFill>
              <a:srgbClr val="294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728C54-9C6F-4F54-922F-55F667459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1960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9F"/>
          </a:solidFill>
          <a:ln xmlns:a="http://schemas.openxmlformats.org/drawingml/2006/main" w="0">
            <a:solidFill>
              <a:srgbClr val="38D39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39007B-721F-4998-9BF8-6C177FF27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5910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8D39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8D39F"/>
                </a:solidFill>
                <a:latin typeface="Arial"/>
                <a:ea typeface="Arial"/>
                <a:cs typeface="Arial"/>
              </a:rPr>
              <a:t>Decidir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268292-03AD-4217-8317-C141FB563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924425"/>
            <a:ext cx="3733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9BDD4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A9BDD4"/>
                </a:solidFill>
                <a:latin typeface="Arial"/>
                <a:ea typeface="Arial"/>
                <a:cs typeface="Arial"/>
              </a:rPr>
              <a:t>Ranking, mapa y proyección explicable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FD4CBC-9DB0-4EAD-B791-C7E663F01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34150"/>
            <a:ext cx="552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9BDD4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A9BDD4"/>
                </a:solidFill>
                <a:latin typeface="Arial"/>
                <a:ea typeface="Arial"/>
                <a:cs typeface="Arial"/>
              </a:rPr>
              <a:t>Solaris Guatemala · demo sintética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EE79C7-209F-45FD-A556-90974FFD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563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396289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D14901-6100-486A-96AD-B014CD85D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6B73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6B73C"/>
                </a:solidFill>
                <a:latin typeface="Arial"/>
                <a:ea typeface="Arial"/>
                <a:cs typeface="Arial"/>
              </a:rPr>
              <a:t>PRODUCTO EN FUNCIONAMIENTO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FD1362-CD2D-4FAD-A64E-7277274FF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6F9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6F9FC"/>
                </a:solidFill>
                <a:latin typeface="Arial"/>
                <a:ea typeface="Arial"/>
                <a:cs typeface="Arial"/>
              </a:rPr>
              <a:t>Un tablero nacional convierte registros en decisiones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9C2BE9-E4D9-4342-BF7D-F9D179848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52550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56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21CF7F-AFBB-4FC7-A314-A2ADD98E9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000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9BDD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DD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5E0B65-DBA9-4C62-9773-5236E9EE8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238125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2243D"/>
          </a:solidFill>
          <a:ln xmlns:a="http://schemas.openxmlformats.org/drawingml/2006/main" w="9525">
            <a:solidFill>
              <a:srgbClr val="29456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098ED0-BABA-4470-B566-46AB0A21F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476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73C"/>
          </a:solidFill>
          <a:ln xmlns:a="http://schemas.openxmlformats.org/drawingml/2006/main" w="0">
            <a:solidFill>
              <a:srgbClr val="F6B73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26F475-725A-4531-9055-73FAD2450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478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6F9F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6F9FC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BF8D10-1D4B-4674-9784-791181C24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241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A9BDD4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A9BDD4"/>
                </a:solidFill>
                <a:latin typeface="Arial"/>
                <a:ea typeface="Arial"/>
                <a:cs typeface="Arial"/>
              </a:rPr>
              <a:t>granjas demo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46C60E-3D39-48AE-9B81-1730B66B7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657350"/>
            <a:ext cx="238125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2243D"/>
          </a:solidFill>
          <a:ln xmlns:a="http://schemas.openxmlformats.org/drawingml/2006/main" w="9525">
            <a:solidFill>
              <a:srgbClr val="294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A04EAF-BD51-4F94-A38D-468AD37C6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657350"/>
            <a:ext cx="476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C8E8"/>
          </a:solidFill>
          <a:ln xmlns:a="http://schemas.openxmlformats.org/drawingml/2006/main" w="0">
            <a:solidFill>
              <a:srgbClr val="54C8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2476E5-BC34-412E-A420-D0216228A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8478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6F9F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6F9FC"/>
                </a:solidFill>
                <a:latin typeface="Arial"/>
                <a:ea typeface="Arial"/>
                <a:cs typeface="Arial"/>
              </a:rPr>
              <a:t>384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2618C4-984B-4A40-A122-46A0597F5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3241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A9BDD4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A9BDD4"/>
                </a:solidFill>
                <a:latin typeface="Arial"/>
                <a:ea typeface="Arial"/>
                <a:cs typeface="Arial"/>
              </a:rPr>
              <a:t>registros mensuales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B6C762-86CD-4731-B3A1-733E8029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657350"/>
            <a:ext cx="238125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2243D"/>
          </a:solidFill>
          <a:ln xmlns:a="http://schemas.openxmlformats.org/drawingml/2006/main" w="9525">
            <a:solidFill>
              <a:srgbClr val="294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2C08A3-0DE9-415C-9387-6736F95BF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657350"/>
            <a:ext cx="476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9F"/>
          </a:solidFill>
          <a:ln xmlns:a="http://schemas.openxmlformats.org/drawingml/2006/main" w="0">
            <a:solidFill>
              <a:srgbClr val="38D39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AE4701-2563-412D-9FE7-C793D315C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8478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6F9F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6F9FC"/>
                </a:solidFill>
                <a:latin typeface="Arial"/>
                <a:ea typeface="Arial"/>
                <a:cs typeface="Arial"/>
              </a:rPr>
              <a:t>189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86B877-D99D-46DA-B1C6-37D439038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3241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A9BDD4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A9BDD4"/>
                </a:solidFill>
                <a:latin typeface="Arial"/>
                <a:ea typeface="Arial"/>
                <a:cs typeface="Arial"/>
              </a:rPr>
              <a:t>proyecciones guardadas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A87354-42CB-4785-A6B6-83F25A1B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57350"/>
            <a:ext cx="238125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2243D"/>
          </a:solidFill>
          <a:ln xmlns:a="http://schemas.openxmlformats.org/drawingml/2006/main" w="9525">
            <a:solidFill>
              <a:srgbClr val="294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3DC5EE-A2CD-4DAA-B1FF-4B17FF4FF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57350"/>
            <a:ext cx="476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7878"/>
          </a:solidFill>
          <a:ln xmlns:a="http://schemas.openxmlformats.org/drawingml/2006/main" w="0">
            <a:solidFill>
              <a:srgbClr val="F0787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7E170D-E410-45D8-999A-FB19210CF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8478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6F9F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6F9FC"/>
                </a:solidFill>
                <a:latin typeface="Arial"/>
                <a:ea typeface="Arial"/>
                <a:cs typeface="Arial"/>
              </a:rPr>
              <a:t>46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21D4FB-D9BE-4E05-87CD-9F7924429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241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A9BDD4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A9BDD4"/>
                </a:solidFill>
                <a:latin typeface="Arial"/>
                <a:ea typeface="Arial"/>
                <a:cs typeface="Arial"/>
              </a:rPr>
              <a:t>alertas activas</a:t>
            </a:r>
          </a:p>
        </p:txBody>
      </p:sp>
      <p:graphicFrame>
        <p:nvGraphicFramePr>
          <p:cNvPr id="44" name="Chart"/>
          <p:cNvGraphicFramePr/>
          <p:nvPr/>
        </p:nvGraphicFramePr>
        <p:xfrm>
          <a:off xmlns:a="http://schemas.openxmlformats.org/drawingml/2006/main" x="704850" y="3162300"/>
          <a:ext xmlns:a="http://schemas.openxmlformats.org/drawingml/2006/main" cx="9982200" cy="2762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46135c7491c4136"/>
          </a:graphicData>
        </a:graphic>
      </p:graphicFrame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084CDD-8469-4D52-BAF5-9CFDF7F1A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34150"/>
            <a:ext cx="552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9BDD4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A9BDD4"/>
                </a:solidFill>
                <a:latin typeface="Arial"/>
                <a:ea typeface="Arial"/>
                <a:cs typeface="Arial"/>
              </a:rPr>
              <a:t>Fuente de cifras: base MySQL local de Solaris · 11 sep 2026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1B04F3-46F7-4CA8-B018-D603A3DCA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563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024287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74A0A0-3356-4C4A-A89F-FBC197B04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6B73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6B73C"/>
                </a:solidFill>
                <a:latin typeface="Arial"/>
                <a:ea typeface="Arial"/>
                <a:cs typeface="Arial"/>
              </a:rPr>
              <a:t>REGLA DE NEGOCIO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786237-D949-4DFB-AA52-A7A7DDA9B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6F9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6F9FC"/>
                </a:solidFill>
                <a:latin typeface="Arial"/>
                <a:ea typeface="Arial"/>
                <a:cs typeface="Arial"/>
              </a:rPr>
              <a:t>La regla de alerta es clara y auditable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A15E5E-AB4D-40F7-8C53-32F167F9A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52550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56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7C00B4-C0F0-44F0-AFBD-EA8A02AC7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000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9BDD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DD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58CF31-7DE7-4FFC-9012-E2F1FA098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47850"/>
            <a:ext cx="1078230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12243D"/>
          </a:solidFill>
          <a:ln xmlns:a="http://schemas.openxmlformats.org/drawingml/2006/main" w="9525">
            <a:solidFill>
              <a:srgbClr val="29456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B7751C-D12B-4F96-BDC2-0295BD573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43125"/>
            <a:ext cx="533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6B73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6B73C"/>
                </a:solidFill>
                <a:latin typeface="Arial"/>
                <a:ea typeface="Arial"/>
                <a:cs typeface="Arial"/>
              </a:rPr>
              <a:t>real ≤ esperada × 0.80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5CDA59-E3A4-4919-A221-2243B9BF2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5742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9BDD4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A9BDD4"/>
                </a:solidFill>
                <a:latin typeface="Arial"/>
                <a:ea typeface="Arial"/>
                <a:cs typeface="Arial"/>
              </a:rPr>
              <a:t>El límite exacto del 80% también genera alerta.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BE83A4-2BC1-4074-B315-A13965476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766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A9BDD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A9BDD4"/>
                </a:solidFill>
                <a:latin typeface="Arial"/>
                <a:ea typeface="Arial"/>
                <a:cs typeface="Arial"/>
              </a:rPr>
              <a:t>Ejemplo del tablero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F18C5F-0957-4CFC-A912-A89D6043F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481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6F9F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6F9FC"/>
                </a:solidFill>
                <a:latin typeface="Arial"/>
                <a:ea typeface="Arial"/>
                <a:cs typeface="Arial"/>
              </a:rPr>
              <a:t>Horizonte Metropolitano · ago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11607B-B67F-431D-AA9D-F16E4B918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291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4C8E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4C8E8"/>
                </a:solidFill>
                <a:latin typeface="Arial"/>
                <a:ea typeface="Arial"/>
                <a:cs typeface="Arial"/>
              </a:rPr>
              <a:t>10,830 kWh reales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49BD6D-2195-4654-81AC-27FF87FC0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292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6B73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6B73C"/>
                </a:solidFill>
                <a:latin typeface="Arial"/>
                <a:ea typeface="Arial"/>
                <a:cs typeface="Arial"/>
              </a:rPr>
              <a:t>16,922 kWh esperados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6BEA09-C237-41ED-8AE9-E286E5C5F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00500"/>
            <a:ext cx="542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63"/>
          </a:solidFill>
          <a:ln xmlns:a="http://schemas.openxmlformats.org/drawingml/2006/main" w="0">
            <a:solidFill>
              <a:srgbClr val="2945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892934-F728-4E2E-8929-11AEF7E80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00500"/>
            <a:ext cx="3476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7878"/>
          </a:solidFill>
          <a:ln xmlns:a="http://schemas.openxmlformats.org/drawingml/2006/main" w="0">
            <a:solidFill>
              <a:srgbClr val="F078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1CD191-5C91-4524-880C-0C79D1767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38575"/>
            <a:ext cx="0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6B73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C92C9D-CB46-4B2B-B553-3D9648CDE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5767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6F9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6F9FC"/>
                </a:solidFill>
                <a:latin typeface="Arial"/>
                <a:ea typeface="Arial"/>
                <a:cs typeface="Arial"/>
              </a:rPr>
              <a:t>64%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8E8677-5039-4823-AD55-E4CAF0BE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7662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6B73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6B73C"/>
                </a:solidFill>
                <a:latin typeface="Arial"/>
                <a:ea typeface="Arial"/>
                <a:cs typeface="Arial"/>
              </a:rPr>
              <a:t>80%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EB9B75-3EBD-48C3-A8A2-297E03D69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19650"/>
            <a:ext cx="200025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07878"/>
          </a:solidFill>
          <a:ln xmlns:a="http://schemas.openxmlformats.org/drawingml/2006/main" w="0">
            <a:solidFill>
              <a:srgbClr val="F0787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BBE127-5E20-4B2B-9A33-A077D59CC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9911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11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7111F"/>
                </a:solidFill>
                <a:latin typeface="Arial"/>
                <a:ea typeface="Arial"/>
                <a:cs typeface="Arial"/>
              </a:rPr>
              <a:t>ALERTA ACTIVA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BF639A-671B-4E5F-A917-B6CC06B49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34150"/>
            <a:ext cx="552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9BDD4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A9BDD4"/>
                </a:solidFill>
                <a:latin typeface="Arial"/>
                <a:ea typeface="Arial"/>
                <a:cs typeface="Arial"/>
              </a:rPr>
              <a:t>Cálculo centralizado en EnergyService · CO₂ = kWh × 0.40 kg/kWh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868B66-D6B3-4447-AC93-7C12DFA3E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563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1257142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B31292-4817-40FA-BD9F-05DD3AA0C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6B73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6B73C"/>
                </a:solidFill>
                <a:latin typeface="Arial"/>
                <a:ea typeface="Arial"/>
                <a:cs typeface="Arial"/>
              </a:rPr>
              <a:t>LECTURA OPERATIVA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43EDDC-5255-4DF4-BDE1-3129C36F9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6F9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6F9FC"/>
                </a:solidFill>
                <a:latin typeface="Arial"/>
                <a:ea typeface="Arial"/>
                <a:cs typeface="Arial"/>
              </a:rPr>
              <a:t>El mapa conecta desempeño con territorio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84A0E6-60FE-4C38-9863-A176A58DD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52550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56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DFB8F6-A9FA-4154-8988-C327F8D75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000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9BDD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DD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18B4EB-663E-4C7A-B429-4185B9B3E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90700"/>
            <a:ext cx="4476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6F9F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6F9FC"/>
                </a:solidFill>
                <a:latin typeface="Arial"/>
                <a:ea typeface="Arial"/>
                <a:cs typeface="Arial"/>
              </a:rPr>
              <a:t>Cada granja conserva departamento y coordenadas para ubicar el activo, abrir su ficha y navegar desde el mapa Leaflet.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8664E5-A72C-42DD-AA45-465CB38DB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9BDD4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A9BDD4"/>
                </a:solidFill>
                <a:latin typeface="Arial"/>
                <a:ea typeface="Arial"/>
                <a:cs typeface="Arial"/>
              </a:rPr>
              <a:t>La vista nacional usa los mismos datos de granjas, generación y alertas que los reportes y la API.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D9ABDF-3EBD-47DC-9ED5-F3D40564E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33550"/>
            <a:ext cx="4762500" cy="3390900"/>
          </a:xfrm>
          <a:prstGeom xmlns:a="http://schemas.openxmlformats.org/drawingml/2006/main" prst="roundRect">
            <a:avLst>
              <a:gd name="adj" fmla="val 5618"/>
            </a:avLst>
          </a:prstGeom>
          <a:solidFill xmlns:a="http://schemas.openxmlformats.org/drawingml/2006/main">
            <a:srgbClr val="12243D"/>
          </a:solidFill>
          <a:ln xmlns:a="http://schemas.openxmlformats.org/drawingml/2006/main" w="9525">
            <a:solidFill>
              <a:srgbClr val="294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6CBF29-3128-4927-AC07-CFA86A743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764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6B73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6B73C"/>
                </a:solidFill>
                <a:latin typeface="Arial"/>
                <a:ea typeface="Arial"/>
                <a:cs typeface="Arial"/>
              </a:rPr>
              <a:t>COBERTURA DEL CATÁLOGO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BE08D9-8A92-497E-A144-30DF06CDA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57450"/>
            <a:ext cx="1428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F6F9FC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F6F9FC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6C1697-D86D-447C-8C70-057AEE331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813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A9BDD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A9BDD4"/>
                </a:solidFill>
                <a:latin typeface="Arial"/>
                <a:ea typeface="Arial"/>
                <a:cs typeface="Arial"/>
              </a:rPr>
              <a:t>departamentos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6B96E9-2047-4C8B-A6E9-E89B2A283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86150"/>
            <a:ext cx="392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53EFEE-56CC-4CAB-A632-43B0792DA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814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8D39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8D39F"/>
                </a:solidFill>
                <a:latin typeface="Arial"/>
                <a:ea typeface="Arial"/>
                <a:cs typeface="Arial"/>
              </a:rPr>
              <a:t>31 granjas activas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B48611-7AFA-41D7-B985-C881EEA16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1719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9BDD4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A9BDD4"/>
                </a:solidFill>
                <a:latin typeface="Arial"/>
                <a:ea typeface="Arial"/>
                <a:cs typeface="Arial"/>
              </a:rPr>
              <a:t>1 granja desactivada conserva su historial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BD7A59-A40E-4FC0-8D7F-E0365E8D9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6863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4C8E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4C8E8"/>
                </a:solidFill>
                <a:latin typeface="Arial"/>
                <a:ea typeface="Arial"/>
                <a:cs typeface="Arial"/>
              </a:rPr>
              <a:t>Leaflet · filtros · popups · zoom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7E8DCB-3173-4953-866C-5E3373AC9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812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B73C"/>
          </a:solidFill>
          <a:ln xmlns:a="http://schemas.openxmlformats.org/drawingml/2006/main" w="0">
            <a:solidFill>
              <a:srgbClr val="F6B73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D76C68-178A-4DB7-AE26-88DB17031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8003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C8E8"/>
          </a:solidFill>
          <a:ln xmlns:a="http://schemas.openxmlformats.org/drawingml/2006/main" w="0">
            <a:solidFill>
              <a:srgbClr val="54C8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3540BB-F88E-4689-BFB3-8242BDAAC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2575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D39F"/>
          </a:solidFill>
          <a:ln xmlns:a="http://schemas.openxmlformats.org/drawingml/2006/main" w="0">
            <a:solidFill>
              <a:srgbClr val="38D39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939D08-5374-44BF-9C3E-6EEF84937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7528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7878"/>
          </a:solidFill>
          <a:ln xmlns:a="http://schemas.openxmlformats.org/drawingml/2006/main" w="0">
            <a:solidFill>
              <a:srgbClr val="F0787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318010-9BF3-4463-AF10-132806B6A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2862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9CFD"/>
          </a:solidFill>
          <a:ln xmlns:a="http://schemas.openxmlformats.org/drawingml/2006/main" w="0">
            <a:solidFill>
              <a:srgbClr val="6B9CF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E5340B-1FD4-4569-9EC9-86050211F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34150"/>
            <a:ext cx="552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9BDD4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A9BDD4"/>
                </a:solidFill>
                <a:latin typeface="Arial"/>
                <a:ea typeface="Arial"/>
                <a:cs typeface="Arial"/>
              </a:rPr>
              <a:t>Ruta pública: /map · datos demo sintéticos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BA83DC-9C11-45EF-A523-0A3CE7D35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563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193758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C5407F-4F26-4408-830C-87A79EC37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6B73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6B73C"/>
                </a:solidFill>
                <a:latin typeface="Arial"/>
                <a:ea typeface="Arial"/>
                <a:cs typeface="Arial"/>
              </a:rPr>
              <a:t>PRONÓSTICO SIN FUGA DE DATOS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60B436-5951-489B-8B94-88BF334F3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6F9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6F9FC"/>
                </a:solidFill>
                <a:latin typeface="Arial"/>
                <a:ea typeface="Arial"/>
                <a:cs typeface="Arial"/>
              </a:rPr>
              <a:t>La proyección explica cómo llega al siguiente mes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F70102-3613-4CFE-936D-565A161FD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52550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56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2F2985-E395-4873-96B4-6CBC1C576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000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9BDD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DD4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28BB26-F5ED-42FF-B1E1-D947FF22B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3333750" cy="342900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12243D"/>
          </a:solidFill>
          <a:ln xmlns:a="http://schemas.openxmlformats.org/drawingml/2006/main" w="9525">
            <a:solidFill>
              <a:srgbClr val="29456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7F63C0-4931-477C-9696-46BCF496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574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6B73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6B73C"/>
                </a:solidFill>
                <a:latin typeface="Arial"/>
                <a:ea typeface="Arial"/>
                <a:cs typeface="Arial"/>
              </a:rPr>
              <a:t>Método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EDB6DB-5ECD-43E3-8541-A79A02169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38400"/>
            <a:ext cx="2381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6F9F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9FC"/>
                </a:solidFill>
                <a:latin typeface="Arial"/>
                <a:ea typeface="Arial"/>
                <a:cs typeface="Arial"/>
              </a:rPr>
              <a:t>media diaria de los 3 meses cerrados más recientes × días del mes objetivo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1BAE83-A05C-4F7A-960F-F02A98F92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71900"/>
            <a:ext cx="257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56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C5A762-1F64-4488-A241-4401EAF80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38600"/>
            <a:ext cx="2400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9BDD4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A9BDD4"/>
                </a:solidFill>
                <a:latin typeface="Arial"/>
                <a:ea typeface="Arial"/>
                <a:cs typeface="Arial"/>
              </a:rPr>
              <a:t>La predicción se guarda con corte temporal. Después se compara con el registro real del mismo período.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4495800" y="1847850"/>
          <a:ext xmlns:a="http://schemas.openxmlformats.org/drawingml/2006/main" cx="6457950" cy="32956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ea9f032e95e4969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D1A909-0E2D-426A-B502-FAFD50410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2959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A9BDD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A9BDD4"/>
                </a:solidFill>
                <a:latin typeface="Arial"/>
                <a:ea typeface="Arial"/>
                <a:cs typeface="Arial"/>
              </a:rPr>
              <a:t>Las proyecciones futuras se consultan en /projections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08EF60-E621-48C1-8920-ECD3B4550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34150"/>
            <a:ext cx="552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9BDD4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A9BDD4"/>
                </a:solidFill>
                <a:latin typeface="Arial"/>
                <a:ea typeface="Arial"/>
                <a:cs typeface="Arial"/>
              </a:rPr>
              <a:t>Proyecciones inmutables · histórico anterior al objetivo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49A900-A821-4769-A278-30B070F99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563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655929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A89E23-774A-4040-8227-87F1648C9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6B73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6B73C"/>
                </a:solidFill>
                <a:latin typeface="Arial"/>
                <a:ea typeface="Arial"/>
                <a:cs typeface="Arial"/>
              </a:rPr>
              <a:t>ARQUITECTURA LARAVEL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CE6B7A-EF3A-4E3F-90E8-B3ED79D0E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6F9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6F9FC"/>
                </a:solidFill>
                <a:latin typeface="Arial"/>
                <a:ea typeface="Arial"/>
                <a:cs typeface="Arial"/>
              </a:rPr>
              <a:t>Una sola lógica alimenta web, API y reportes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BF0864-3F77-4BAA-BB72-0DC681D6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52550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56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CDE7AE-A572-4423-84B6-BAFBC77A7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000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9BDD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DD4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389116-6E8B-479D-AC3B-B45AEE1BA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209550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12243D"/>
          </a:solidFill>
          <a:ln xmlns:a="http://schemas.openxmlformats.org/drawingml/2006/main" w="9525">
            <a:solidFill>
              <a:srgbClr val="29456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270B7B-FC60-456A-8459-98631DAB0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C8E8"/>
          </a:solidFill>
          <a:ln xmlns:a="http://schemas.openxmlformats.org/drawingml/2006/main" w="0">
            <a:solidFill>
              <a:srgbClr val="54C8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B8DAE6-BF86-49F2-8200-3BC4378C6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4C8E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4C8E8"/>
                </a:solidFill>
                <a:latin typeface="Arial"/>
                <a:ea typeface="Arial"/>
                <a:cs typeface="Arial"/>
              </a:rPr>
              <a:t>Navegador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C2FDE8-BA00-49B3-8A19-AA78C11BD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7655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9BDD4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A9BDD4"/>
                </a:solidFill>
                <a:latin typeface="Arial"/>
                <a:ea typeface="Arial"/>
                <a:cs typeface="Arial"/>
              </a:rPr>
              <a:t>Blade + Vite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B48C7A-BCC0-494E-B3C5-986D196C2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48100"/>
            <a:ext cx="209550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12243D"/>
          </a:solidFill>
          <a:ln xmlns:a="http://schemas.openxmlformats.org/drawingml/2006/main" w="9525">
            <a:solidFill>
              <a:srgbClr val="294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D494A0-D74E-4DDF-A111-3E34E2E6A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4810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73C"/>
          </a:solidFill>
          <a:ln xmlns:a="http://schemas.openxmlformats.org/drawingml/2006/main" w="0">
            <a:solidFill>
              <a:srgbClr val="F6B73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B216B1-E654-479E-B6F9-438B28672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7670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6B73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6B73C"/>
                </a:solidFill>
                <a:latin typeface="Arial"/>
                <a:ea typeface="Arial"/>
                <a:cs typeface="Arial"/>
              </a:rPr>
              <a:t>Consumidor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728F5E-ADBC-4BF5-80EA-FE14B0320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3865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9BDD4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A9BDD4"/>
                </a:solidFill>
                <a:latin typeface="Arial"/>
                <a:ea typeface="Arial"/>
                <a:cs typeface="Arial"/>
              </a:rPr>
              <a:t>API REST /api/v1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01D1B1-A641-4391-BB7B-023959AE5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48000"/>
            <a:ext cx="21907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12243D"/>
          </a:solidFill>
          <a:ln xmlns:a="http://schemas.openxmlformats.org/drawingml/2006/main" w="9525">
            <a:solidFill>
              <a:srgbClr val="294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4858C4-56FB-459D-9375-520F0595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480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9CFD"/>
          </a:solidFill>
          <a:ln xmlns:a="http://schemas.openxmlformats.org/drawingml/2006/main" w="0">
            <a:solidFill>
              <a:srgbClr val="6B9CF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A4C23F-E2C7-447C-9F8A-8489AE2D0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27660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B9CF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B9CFD"/>
                </a:solidFill>
                <a:latin typeface="Arial"/>
                <a:ea typeface="Arial"/>
                <a:cs typeface="Arial"/>
              </a:rPr>
              <a:t>Controladores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D3A13D-ABAB-4EF4-BDB9-31B7A689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6385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9BDD4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A9BDD4"/>
                </a:solidFill>
                <a:latin typeface="Arial"/>
                <a:ea typeface="Arial"/>
                <a:cs typeface="Arial"/>
              </a:rPr>
              <a:t>validación y respuestas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D57C4C-A575-407B-830C-7FF0CA49D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48000"/>
            <a:ext cx="21907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12243D"/>
          </a:solidFill>
          <a:ln xmlns:a="http://schemas.openxmlformats.org/drawingml/2006/main" w="9525">
            <a:solidFill>
              <a:srgbClr val="294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DA80F2-9EE3-4B65-8DA4-4C4F62D5F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480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9F"/>
          </a:solidFill>
          <a:ln xmlns:a="http://schemas.openxmlformats.org/drawingml/2006/main" w="0">
            <a:solidFill>
              <a:srgbClr val="38D39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F1163A-DE58-4FF5-8C5A-491B2BA5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27660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8D39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8D39F"/>
                </a:solidFill>
                <a:latin typeface="Arial"/>
                <a:ea typeface="Arial"/>
                <a:cs typeface="Arial"/>
              </a:rPr>
              <a:t>Servicios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1C6E10-76D2-450A-9CB7-876D4A018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6385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9BDD4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A9BDD4"/>
                </a:solidFill>
                <a:latin typeface="Arial"/>
                <a:ea typeface="Arial"/>
                <a:cs typeface="Arial"/>
              </a:rPr>
              <a:t>cálculos compartidos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5F6749-E8C3-4413-BC84-303129ECC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048000"/>
            <a:ext cx="171450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12243D"/>
          </a:solidFill>
          <a:ln xmlns:a="http://schemas.openxmlformats.org/drawingml/2006/main" w="9525">
            <a:solidFill>
              <a:srgbClr val="294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F0DC34-75D6-4A53-9B6D-359FD00F9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0480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7878"/>
          </a:solidFill>
          <a:ln xmlns:a="http://schemas.openxmlformats.org/drawingml/2006/main" w="0">
            <a:solidFill>
              <a:srgbClr val="F0787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CFE63E-BBDF-4462-BE9D-7345A8404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276600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0787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07878"/>
                </a:solidFill>
                <a:latin typeface="Arial"/>
                <a:ea typeface="Arial"/>
                <a:cs typeface="Arial"/>
              </a:rPr>
              <a:t>MySQL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1AD39F-67E8-4346-A624-430B4535D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63855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9BDD4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A9BDD4"/>
                </a:solidFill>
                <a:latin typeface="Arial"/>
                <a:ea typeface="Arial"/>
                <a:cs typeface="Arial"/>
              </a:rPr>
              <a:t>integridad relacional</a:t>
            </a:r>
          </a:p>
        </p:txBody>
      </p:sp>
      <p:cxnSp>
        <p:nvCxnSpPr>
          <p:cNvPr id="56" name=""/>
          <p:cNvCxnSpPr>
            <a:stCxn xmlns:a="http://schemas.openxmlformats.org/drawingml/2006/main" id="5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2838450" y="2781300"/>
            <a:ext cx="876300" cy="8001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94563"/>
            </a:solidFill>
            <a:prstDash val="solid"/>
            <a:headEnd type="triangle" w="sm" len="sm"/>
          </a:ln>
        </p:spPr>
      </p:cxnSp>
      <p:cxnSp>
        <p:nvCxnSpPr>
          <p:cNvPr id="57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flipV="1">
            <a:off x="2838450" y="3581400"/>
            <a:ext cx="876300" cy="7620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94563"/>
            </a:solidFill>
            <a:prstDash val="solid"/>
            <a:headEnd type="triangle" w="sm" len="sm"/>
          </a:ln>
        </p:spPr>
      </p:cxnSp>
      <p:cxnSp>
        <p:nvCxnSpPr>
          <p:cNvPr id="58" name=""/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5905500" y="35814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94563"/>
            </a:solidFill>
            <a:prstDash val="solid"/>
            <a:headEnd type="triangle" w="sm" len="sm"/>
          </a:ln>
        </p:spPr>
      </p:cxnSp>
      <p:cxnSp>
        <p:nvCxnSpPr>
          <p:cNvPr id="59" name=""/>
          <p:cNvCxnSpPr>
            <a:stCxn xmlns:a="http://schemas.openxmlformats.org/drawingml/2006/main" id="17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8953500" y="35814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94563"/>
            </a:solidFill>
            <a:prstDash val="solid"/>
            <a:headEnd type="triangle" w="sm" len="sm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B4406B-71FB-47F4-A37A-CF983D186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876800"/>
            <a:ext cx="771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6F9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6F9FC"/>
                </a:solidFill>
                <a:latin typeface="Arial"/>
                <a:ea typeface="Arial"/>
                <a:cs typeface="Arial"/>
              </a:rPr>
              <a:t>Laravel 12 · PHP 8.2+ · Eloquent · MySQL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F33B3D-935D-407D-93BA-82D646839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34150"/>
            <a:ext cx="552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9BDD4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A9BDD4"/>
                </a:solidFill>
                <a:latin typeface="Arial"/>
                <a:ea typeface="Arial"/>
                <a:cs typeface="Arial"/>
              </a:rPr>
              <a:t>La validación y los cálculos viven en el backend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C22F0B-D596-4D75-94FC-67ADD7202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563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823821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538146-4209-46E9-8EB2-B61F6A803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6B73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6B73C"/>
                </a:solidFill>
                <a:latin typeface="Arial"/>
                <a:ea typeface="Arial"/>
                <a:cs typeface="Arial"/>
              </a:rPr>
              <a:t>ENTREGA TÉCNICA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91E15D-AE0F-4557-95CE-2C5D29C8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6F9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6F9FC"/>
                </a:solidFill>
                <a:latin typeface="Arial"/>
                <a:ea typeface="Arial"/>
                <a:cs typeface="Arial"/>
              </a:rPr>
              <a:t>La API deja el sistema listo para integrarse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109FCD-09F9-4315-AB6C-B7381438C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52550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56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9EE8A9-BBEA-4FDD-9CEA-862AD1854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000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9BDD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DD4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9AD4E3-3EA1-4BE8-A0BF-F702AB745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3355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6F9F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6F9FC"/>
                </a:solidFill>
                <a:latin typeface="Arial"/>
                <a:ea typeface="Arial"/>
                <a:cs typeface="Arial"/>
              </a:rPr>
              <a:t>Consultas versionadas, paginadas y con filtros por departamento, granja y período.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0D0791-3487-4C46-85B2-D71D9B121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33650"/>
            <a:ext cx="6381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2243D"/>
          </a:solidFill>
          <a:ln xmlns:a="http://schemas.openxmlformats.org/drawingml/2006/main" w="9525">
            <a:solidFill>
              <a:srgbClr val="29456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5BC5FE-BAB0-48EE-9ED2-441261913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86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6B73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6B73C"/>
                </a:solidFill>
                <a:latin typeface="Arial"/>
                <a:ea typeface="Arial"/>
                <a:cs typeface="Arial"/>
              </a:rPr>
              <a:t>GET /api/v1/departments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DE6A69-6723-49E2-8CA1-E9B4D142D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686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9BDD4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A9BDD4"/>
                </a:solidFill>
                <a:latin typeface="Arial"/>
                <a:ea typeface="Arial"/>
                <a:cs typeface="Arial"/>
              </a:rPr>
              <a:t>Catálogo de 22 departamentos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5AAF58-AC7D-4FFE-B261-39D0D06B0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76600"/>
            <a:ext cx="6381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2243D"/>
          </a:solidFill>
          <a:ln xmlns:a="http://schemas.openxmlformats.org/drawingml/2006/main" w="9525">
            <a:solidFill>
              <a:srgbClr val="294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F6982F-99D4-4982-9E4E-D54DDE7F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4C8E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4C8E8"/>
                </a:solidFill>
                <a:latin typeface="Arial"/>
                <a:ea typeface="Arial"/>
                <a:cs typeface="Arial"/>
              </a:rPr>
              <a:t>GET /api/v1/farms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4C5F0D-1176-4B69-B67E-A4CB1F112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429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9BDD4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A9BDD4"/>
                </a:solidFill>
                <a:latin typeface="Arial"/>
                <a:ea typeface="Arial"/>
                <a:cs typeface="Arial"/>
              </a:rPr>
              <a:t>Granjas con paneles y métricas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2678B1-FA7A-421F-829C-D7D1044F3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9550"/>
            <a:ext cx="6381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2243D"/>
          </a:solidFill>
          <a:ln xmlns:a="http://schemas.openxmlformats.org/drawingml/2006/main" w="9525">
            <a:solidFill>
              <a:srgbClr val="2945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A64E39-A514-440D-9BA1-483128C02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719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8D39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8D39F"/>
                </a:solidFill>
                <a:latin typeface="Arial"/>
                <a:ea typeface="Arial"/>
                <a:cs typeface="Arial"/>
              </a:rPr>
              <a:t>GET /api/v1/generations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79F4DA-8957-4654-AE10-D79F1FF7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1719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9BDD4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A9BDD4"/>
                </a:solidFill>
                <a:latin typeface="Arial"/>
                <a:ea typeface="Arial"/>
                <a:cs typeface="Arial"/>
              </a:rPr>
              <a:t>Registros, CO₂ y alertas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A8D563-E657-424F-A14D-4D739F821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0"/>
            <a:ext cx="6381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2243D"/>
          </a:solidFill>
          <a:ln xmlns:a="http://schemas.openxmlformats.org/drawingml/2006/main" w="9525">
            <a:solidFill>
              <a:srgbClr val="294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195E2F-58A1-4030-852E-2722803D2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149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B9CF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B9CFD"/>
                </a:solidFill>
                <a:latin typeface="Arial"/>
                <a:ea typeface="Arial"/>
                <a:cs typeface="Arial"/>
              </a:rPr>
              <a:t>GET /api/v1/statistics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5AEF03-D5CC-40D6-921A-AE5015BAE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9149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9BDD4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A9BDD4"/>
                </a:solidFill>
                <a:latin typeface="Arial"/>
                <a:ea typeface="Arial"/>
                <a:cs typeface="Arial"/>
              </a:rPr>
              <a:t>Totales, ranking y tendencia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D73B44-A479-4B78-A36B-B92A7D865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33650"/>
            <a:ext cx="3143250" cy="2781300"/>
          </a:xfrm>
          <a:prstGeom xmlns:a="http://schemas.openxmlformats.org/drawingml/2006/main" prst="roundRect">
            <a:avLst>
              <a:gd name="adj" fmla="val 6164"/>
            </a:avLst>
          </a:prstGeom>
          <a:solidFill xmlns:a="http://schemas.openxmlformats.org/drawingml/2006/main">
            <a:srgbClr val="12243D"/>
          </a:solidFill>
          <a:ln xmlns:a="http://schemas.openxmlformats.org/drawingml/2006/main" w="9525">
            <a:solidFill>
              <a:srgbClr val="29456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BFE3C0-2B09-4070-9A0E-3CA0B04B1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575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6F9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6F9FC"/>
                </a:solidFill>
                <a:latin typeface="Arial"/>
                <a:ea typeface="Arial"/>
                <a:cs typeface="Arial"/>
              </a:rPr>
              <a:t>Calidad comprobada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763664-32E1-4DBE-AC9E-69F03598C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33750"/>
            <a:ext cx="123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38D39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38D39F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AD356A-FFD3-4FA4-8FE3-9EC4620E9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59092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9BDD4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A9BDD4"/>
                </a:solidFill>
                <a:latin typeface="Arial"/>
                <a:ea typeface="Arial"/>
                <a:cs typeface="Arial"/>
              </a:rPr>
              <a:t>pruebas pasando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10A1BA-AB65-4748-A390-5CB9F1A77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210050"/>
            <a:ext cx="238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9BDD4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A9BDD4"/>
                </a:solidFill>
                <a:latin typeface="Arial"/>
                <a:ea typeface="Arial"/>
                <a:cs typeface="Arial"/>
              </a:rPr>
              <a:t>231 aserciones</a:t>
            </a:r>
          </a:p>
          <a:p xmlns:a="http://schemas.openxmlformats.org/drawingml/2006/main">
            <a:pPr>
              <a:defRPr sz="1200">
                <a:solidFill>
                  <a:srgbClr val="A9BDD4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A9BDD4"/>
                </a:solidFill>
                <a:latin typeface="Arial"/>
                <a:ea typeface="Arial"/>
                <a:cs typeface="Arial"/>
              </a:rPr>
              <a:t>MySQL local validado</a:t>
            </a:r>
          </a:p>
          <a:p xmlns:a="http://schemas.openxmlformats.org/drawingml/2006/main">
            <a:pPr>
              <a:defRPr sz="1200">
                <a:solidFill>
                  <a:srgbClr val="A9BDD4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A9BDD4"/>
                </a:solidFill>
                <a:latin typeface="Arial"/>
                <a:ea typeface="Arial"/>
                <a:cs typeface="Arial"/>
              </a:rPr>
              <a:t>Vite compilado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E52050-FEBF-4782-BBA8-FD7F8B6DB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34150"/>
            <a:ext cx="552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9BDD4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A9BDD4"/>
                </a:solidFill>
                <a:latin typeface="Arial"/>
                <a:ea typeface="Arial"/>
                <a:cs typeface="Arial"/>
              </a:rPr>
              <a:t>Documentación: /api-docs · docs/API.md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B75768-DFD5-46C4-8AA4-0CA5725EA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563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70696164"/>
      </p:ext>
    </p:extLst>
  </p:cSld>
</p:sld>
</file>

<file path=ppt/slides/slide9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E1B30"/>
            </a:gs>
            <a:gs pos="100000">
              <a:srgbClr val="07111F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922A49-EBEE-41BB-A7B8-B1D6B410E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6B73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6B73C"/>
                </a:solidFill>
                <a:latin typeface="Arial"/>
                <a:ea typeface="Arial"/>
                <a:cs typeface="Arial"/>
              </a:rPr>
              <a:t>CIERRE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B63429-1FE3-41F4-8961-5996E60AC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6F9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6F9FC"/>
                </a:solidFill>
                <a:latin typeface="Arial"/>
                <a:ea typeface="Arial"/>
                <a:cs typeface="Arial"/>
              </a:rPr>
              <a:t>Una demo de diez minutos muestra el ciclo completo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15F6F0-B096-4A58-8948-3218B57BA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52550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56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2F23EF-3CEF-4649-B33C-C1986D9CF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000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9BDD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DD4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056AF5-6769-4E0C-86BD-F386DD046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2266950" cy="148590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2243D"/>
          </a:solidFill>
          <a:ln xmlns:a="http://schemas.openxmlformats.org/drawingml/2006/main" w="9525">
            <a:solidFill>
              <a:srgbClr val="29456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6DE0ED-77DD-47B3-BCF9-1F009D93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145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6B73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6B73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5CFFBB-9518-4C92-A1D9-9AF4175EA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6F9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6F9FC"/>
                </a:solidFill>
                <a:latin typeface="Arial"/>
                <a:ea typeface="Arial"/>
                <a:cs typeface="Arial"/>
              </a:rPr>
              <a:t>Panorama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BC85BA-6420-44DE-B89F-334ACCAE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1790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9BDD4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A9BDD4"/>
                </a:solidFill>
                <a:latin typeface="Arial"/>
                <a:ea typeface="Arial"/>
                <a:cs typeface="Arial"/>
              </a:rPr>
              <a:t>Indicadores nacionales y tendencia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CC7203-2CFB-4D62-AF59-5AEA074CE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43100"/>
            <a:ext cx="2266950" cy="148590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2243D"/>
          </a:solidFill>
          <a:ln xmlns:a="http://schemas.openxmlformats.org/drawingml/2006/main" w="9525">
            <a:solidFill>
              <a:srgbClr val="294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662C03-59DC-4BB7-89BF-FE5B1E9F9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145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4C8E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4C8E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295EF8-C1C2-46B6-BE96-5B66F8482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765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6F9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6F9FC"/>
                </a:solidFill>
                <a:latin typeface="Arial"/>
                <a:ea typeface="Arial"/>
                <a:cs typeface="Arial"/>
              </a:rPr>
              <a:t>Explorar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AE71A2-5B66-47A5-B3CA-2ABD1F9E3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95600"/>
            <a:ext cx="1790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9BDD4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A9BDD4"/>
                </a:solidFill>
                <a:latin typeface="Arial"/>
                <a:ea typeface="Arial"/>
                <a:cs typeface="Arial"/>
              </a:rPr>
              <a:t>Mapa, granja y ficha técnica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C725D5-54FD-40C5-AD03-0016E6119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943100"/>
            <a:ext cx="2266950" cy="148590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2243D"/>
          </a:solidFill>
          <a:ln xmlns:a="http://schemas.openxmlformats.org/drawingml/2006/main" w="9525">
            <a:solidFill>
              <a:srgbClr val="294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1875C7-F824-459E-A985-95830BC51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145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078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0787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BEAAA7-3453-4E47-A67D-99888BFD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765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6F9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6F9FC"/>
                </a:solidFill>
                <a:latin typeface="Arial"/>
                <a:ea typeface="Arial"/>
                <a:cs typeface="Arial"/>
              </a:rPr>
              <a:t>Registrar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C31061-98A7-48FE-9DFD-890EED124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95600"/>
            <a:ext cx="1790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9BDD4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A9BDD4"/>
                </a:solidFill>
                <a:latin typeface="Arial"/>
                <a:ea typeface="Arial"/>
                <a:cs typeface="Arial"/>
              </a:rPr>
              <a:t>Generación, validación y alerta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659B4C-60D2-4BDF-AC4D-24A0079B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943100"/>
            <a:ext cx="2266950" cy="148590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2243D"/>
          </a:solidFill>
          <a:ln xmlns:a="http://schemas.openxmlformats.org/drawingml/2006/main" w="9525">
            <a:solidFill>
              <a:srgbClr val="294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670CB0-0607-46B9-8948-3138D0078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1145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8D39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8D39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6992F4-DA14-4C8E-8DCC-A305F8810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765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6F9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6F9FC"/>
                </a:solidFill>
                <a:latin typeface="Arial"/>
                <a:ea typeface="Arial"/>
                <a:cs typeface="Arial"/>
              </a:rPr>
              <a:t>Proyectar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C4BAA8-BABD-4B53-8AD4-A7A776C00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895600"/>
            <a:ext cx="1790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9BDD4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A9BDD4"/>
                </a:solidFill>
                <a:latin typeface="Arial"/>
                <a:ea typeface="Arial"/>
                <a:cs typeface="Arial"/>
              </a:rPr>
              <a:t>Histórico, pronóstico y comparación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44310B-2025-4748-B9C8-7088B32D4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62400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6A1DBB-3CBF-4C41-9203-41287CF8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624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6B73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6B73C"/>
                </a:solidFill>
                <a:latin typeface="Arial"/>
                <a:ea typeface="Arial"/>
                <a:cs typeface="Arial"/>
              </a:rPr>
              <a:t>Equipo 50/50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CAE1E3-4EA8-4386-A213-9328DA5EF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6F9FC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F6F9FC"/>
                </a:solidFill>
                <a:latin typeface="Arial"/>
                <a:ea typeface="Arial"/>
                <a:cs typeface="Arial"/>
              </a:rPr>
              <a:t>Karl Tommy Escobar Castellanos · Jerelyn Andrea Marín Morales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940D55-368E-4BF9-85D5-4F39F2AFF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95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9BDD4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A9BDD4"/>
                </a:solidFill>
                <a:latin typeface="Arial"/>
                <a:ea typeface="Arial"/>
                <a:cs typeface="Arial"/>
              </a:rPr>
              <a:t>Código y documentación listos en GitHub. Docker Compose prepara el despliegue; falta definir proveedor y dominio públicos.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EB5780-CE39-415E-8FB2-B08A9F12A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34150"/>
            <a:ext cx="552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9BDD4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A9BDD4"/>
                </a:solidFill>
                <a:latin typeface="Arial"/>
                <a:ea typeface="Arial"/>
                <a:cs typeface="Arial"/>
              </a:rPr>
              <a:t>Repositorio: github.com/Karl-Mitx/competencia-solar-guatemala-monitor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754875-44D8-4EBD-95E1-E9B36B3C6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563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029699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2026-09-12T05:19:21.4960000Z</dcterms:created>
  <dcterms:modified xsi:type="dcterms:W3CDTF">2026-09-12T05:19:21.4960000Z</dcterms:modified>
</coreProperties>
</file>